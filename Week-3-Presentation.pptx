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BEFF4"/>
                </a:solidFill>
                <a:latin typeface="Aptos"/>
              </a:defRPr>
            </a:pPr>
            <a:r>
              <a:t>WEEK 3 — NETWORK SECURITY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10512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A4AEBA"/>
                </a:solidFill>
                <a:latin typeface="Aptos"/>
              </a:defRPr>
            </a:pPr>
            <a:r>
              <a:t>Advanced Cybersecurity Practical • Nmap + Wireshark + Hardening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514600"/>
            <a:ext cx="5303520" cy="196596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6148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CYBERSECURITY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2724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BEFF4"/>
                </a:solidFill>
                <a:latin typeface="Aptos"/>
              </a:defRPr>
            </a:pPr>
            <a:r>
              <a:t>Seyed Ismai Bilal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75887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4AEBA"/>
                </a:solidFill>
                <a:latin typeface="Aptos"/>
              </a:defRPr>
            </a:pPr>
            <a:r>
              <a:t>Student ID: 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6908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Authorized target: Metasploitable 2 • 192.168.56.101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31720"/>
            <a:ext cx="5029200" cy="2331720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58775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AEBA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569464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5AAFF"/>
                </a:solidFill>
                <a:latin typeface="Aptos"/>
              </a:defRPr>
            </a:pPr>
            <a:r>
              <a:t>23 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2461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AEBA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22783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B04E"/>
                </a:solidFill>
                <a:latin typeface="Aptos"/>
              </a:defRPr>
            </a:pPr>
            <a:r>
              <a:t>PCAP + 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904487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AEBA"/>
                </a:solidFill>
                <a:latin typeface="Aptos"/>
              </a:defRPr>
            </a:pPr>
            <a:r>
              <a:t>HARDEN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88620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3CA91"/>
                </a:solidFill>
                <a:latin typeface="Aptos"/>
              </a:defRPr>
            </a:pPr>
            <a:r>
              <a:t>5 ports closed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978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BEFF4"/>
                </a:solidFill>
                <a:latin typeface="Aptos"/>
              </a:defRPr>
            </a:pPr>
            <a:r>
              <a:t>Evidence-driven workflow: Discover → Analyze → Assess Risk → Harden →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EFF4"/>
                </a:solidFill>
                <a:latin typeface="Aptos Display"/>
              </a:defRPr>
            </a:pPr>
            <a:r>
              <a:t>Project Objective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5AAFF"/>
                </a:solidFill>
                <a:latin typeface="Aptos"/>
              </a:defRPr>
            </a:pPr>
            <a:r>
              <a:t>ASSESSMENT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EBA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BEFF4"/>
                </a:solidFill>
                <a:latin typeface="Aptos"/>
              </a:defRPr>
            </a:pPr>
            <a:r>
              <a:t>What this practical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394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BEFF4"/>
                </a:solidFill>
                <a:latin typeface="Aptos"/>
              </a:defRPr>
            </a:pPr>
            <a:r>
              <a:t>•  Discover authorized hosts and exposed services on the isolated lab network.</a:t>
            </a:r>
          </a:p>
          <a:p>
            <a:pPr>
              <a:spcAft>
                <a:spcPts val="600"/>
              </a:spcAft>
              <a:defRPr sz="1500">
                <a:solidFill>
                  <a:srgbClr val="EBEFF4"/>
                </a:solidFill>
                <a:latin typeface="Aptos"/>
              </a:defRPr>
            </a:pPr>
            <a:r>
              <a:t>•  Perform basic and advanced Nmap assessment: service/version, OS, SYN, UDP and NSE vulnerability checks.</a:t>
            </a:r>
          </a:p>
          <a:p>
            <a:pPr>
              <a:spcAft>
                <a:spcPts val="600"/>
              </a:spcAft>
              <a:defRPr sz="1500">
                <a:solidFill>
                  <a:srgbClr val="EBEFF4"/>
                </a:solidFill>
                <a:latin typeface="Aptos"/>
              </a:defRPr>
            </a:pPr>
            <a:r>
              <a:t>•  Capture and investigate traffic with Wireshark using protocol and TCP flag filters.</a:t>
            </a:r>
          </a:p>
          <a:p>
            <a:pPr>
              <a:spcAft>
                <a:spcPts val="600"/>
              </a:spcAft>
              <a:defRPr sz="1500">
                <a:solidFill>
                  <a:srgbClr val="EBEFF4"/>
                </a:solidFill>
                <a:latin typeface="Aptos"/>
              </a:defRPr>
            </a:pPr>
            <a:r>
              <a:t>•  Correlate scan observations with packet-level evidence and identify security risks.</a:t>
            </a:r>
          </a:p>
          <a:p>
            <a:pPr>
              <a:spcAft>
                <a:spcPts val="600"/>
              </a:spcAft>
              <a:defRPr sz="1500">
                <a:solidFill>
                  <a:srgbClr val="EBEFF4"/>
                </a:solidFill>
                <a:latin typeface="Aptos"/>
              </a:defRPr>
            </a:pPr>
            <a:r>
              <a:t>•  Apply practical hardening and verify the reduction in exposed attack surface.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166360" cy="452628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508760"/>
            <a:ext cx="4617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LAB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90195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4AEBA"/>
                </a:solidFill>
                <a:latin typeface="Aptos"/>
              </a:defRPr>
            </a:pPr>
            <a:r>
              <a:t>Kali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01952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192.168.56.1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49631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4AEBA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96312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192.168.56.101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09067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4AEBA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90672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192.168.56.0/24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8503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4AEBA"/>
                </a:solidFill>
                <a:latin typeface="Aptos"/>
              </a:defRPr>
            </a:pPr>
            <a:r>
              <a:t>Target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685032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Metasploitable 2 / Linux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27939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4AEBA"/>
                </a:solidFill>
                <a:latin typeface="Aptos"/>
              </a:defRPr>
            </a:pPr>
            <a:r>
              <a:t>Capture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vboxnet0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87375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4AEBA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73752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Own isolated virtual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EFF4"/>
                </a:solidFill>
                <a:latin typeface="Aptos Display"/>
              </a:defRPr>
            </a:pPr>
            <a:r>
              <a:t>Lab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5AAFF"/>
                </a:solidFill>
                <a:latin typeface="Aptos"/>
              </a:defRPr>
            </a:pPr>
            <a:r>
              <a:t>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EBA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7315200" cy="507492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eek-3-Network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9745"/>
            <a:ext cx="6903720" cy="37477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234440"/>
            <a:ext cx="3291840" cy="507492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53619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TRAFFIC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901952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BEFF4"/>
                </a:solidFill>
                <a:latin typeface="Aptos"/>
              </a:defRPr>
            </a:pPr>
            <a:r>
              <a:t>•  Kali initiates discovery and assessment traffic.</a:t>
            </a:r>
          </a:p>
          <a:p>
            <a:pPr>
              <a:spcAft>
                <a:spcPts val="600"/>
              </a:spcAft>
              <a:defRPr sz="1300">
                <a:solidFill>
                  <a:srgbClr val="EBEFF4"/>
                </a:solidFill>
                <a:latin typeface="Aptos"/>
              </a:defRPr>
            </a:pPr>
            <a:r>
              <a:t>•  vboxnet0 provides the isolated host-only network.</a:t>
            </a:r>
          </a:p>
          <a:p>
            <a:pPr>
              <a:spcAft>
                <a:spcPts val="600"/>
              </a:spcAft>
              <a:defRPr sz="1300">
                <a:solidFill>
                  <a:srgbClr val="EBEFF4"/>
                </a:solidFill>
                <a:latin typeface="Aptos"/>
              </a:defRPr>
            </a:pPr>
            <a:r>
              <a:t>•  Metasploitable 2 exposes intentionally vulnerable services.</a:t>
            </a:r>
          </a:p>
          <a:p>
            <a:pPr>
              <a:spcAft>
                <a:spcPts val="600"/>
              </a:spcAft>
              <a:defRPr sz="1300">
                <a:solidFill>
                  <a:srgbClr val="EBEFF4"/>
                </a:solidFill>
                <a:latin typeface="Aptos"/>
              </a:defRPr>
            </a:pPr>
            <a:r>
              <a:t>•  Wireshark observes traffic on vboxnet0.</a:t>
            </a:r>
          </a:p>
          <a:p>
            <a:pPr>
              <a:spcAft>
                <a:spcPts val="600"/>
              </a:spcAft>
              <a:defRPr sz="1300">
                <a:solidFill>
                  <a:srgbClr val="EBEFF4"/>
                </a:solidFill>
                <a:latin typeface="Aptos"/>
              </a:defRPr>
            </a:pPr>
            <a:r>
              <a:t>•  Hardening changes are verified from Kali with repeat scans.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EFF4"/>
                </a:solidFill>
                <a:latin typeface="Aptos Display"/>
              </a:defRPr>
            </a:pPr>
            <a:r>
              <a:t>Tools &amp; Assessment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5AA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EBA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66360" cy="1170432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5AAFF"/>
                </a:solidFill>
                <a:latin typeface="Aptos"/>
              </a:defRPr>
            </a:pPr>
            <a:r>
              <a:t>Nmap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399032"/>
            <a:ext cx="3246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Discovery, ports, versions, OS, 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166360" cy="1170432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B04E"/>
                </a:solidFill>
                <a:latin typeface="Aptos"/>
              </a:defRPr>
            </a:pPr>
            <a:r>
              <a:t>Wireshark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399032"/>
            <a:ext cx="3246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Packet capture, protocol analysis,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15768"/>
            <a:ext cx="5166360" cy="1170432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9864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3CA91"/>
                </a:solidFill>
                <a:latin typeface="Aptos"/>
              </a:defRPr>
            </a:pPr>
            <a:r>
              <a:t>VirtualBox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80360"/>
            <a:ext cx="3246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Isolated lab virtualization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15768"/>
            <a:ext cx="5166360" cy="1170432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89864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5AAFF"/>
                </a:solidFill>
                <a:latin typeface="Aptos"/>
              </a:defRPr>
            </a:pPr>
            <a:r>
              <a:t>Kali Linux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880360"/>
            <a:ext cx="3246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Assessment workstation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97096"/>
            <a:ext cx="5166360" cy="1170432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7997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B6262"/>
                </a:solidFill>
                <a:latin typeface="Aptos"/>
              </a:defRPr>
            </a:pPr>
            <a:r>
              <a:t>Metasploitable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361688"/>
            <a:ext cx="3246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Authorized vulnerable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93008" y="5696712"/>
            <a:ext cx="5166360" cy="502920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5824728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BEFF4"/>
                </a:solidFill>
                <a:latin typeface="Aptos"/>
              </a:defRPr>
            </a:pPr>
            <a:r>
              <a:t>Method: Discover → Enumerate → Capture → Analyze → Harden → Re-scan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EFF4"/>
                </a:solidFill>
                <a:latin typeface="Aptos Display"/>
              </a:defRPr>
            </a:pPr>
            <a:r>
              <a:t>Nmap Assessment — Discovery &amp; Enumeration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5AAFF"/>
                </a:solidFill>
                <a:latin typeface="Aptos"/>
              </a:defRPr>
            </a:pPr>
            <a:r>
              <a:t>TASKS 7–8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EBA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331720" cy="105156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71600"/>
            <a:ext cx="20025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AEBA"/>
                </a:solidFill>
                <a:latin typeface="Aptos"/>
              </a:defRPr>
            </a:pPr>
            <a:r>
              <a:t>HOSTS DISCOVERED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27632"/>
            <a:ext cx="2002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55AA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20824"/>
            <a:ext cx="2002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.1 Kali • .100 • .101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34440"/>
            <a:ext cx="2331720" cy="105156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371600"/>
            <a:ext cx="20025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AEBA"/>
                </a:solidFill>
                <a:latin typeface="Aptos"/>
              </a:defRPr>
            </a:pPr>
            <a:r>
              <a:t>TCP PORTS 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1627632"/>
            <a:ext cx="2002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5B04E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020824"/>
            <a:ext cx="2002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Target 192.168.56.101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234440"/>
            <a:ext cx="2331720" cy="105156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9592" y="1371600"/>
            <a:ext cx="20025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AEBA"/>
                </a:solidFill>
                <a:latin typeface="Aptos"/>
              </a:defRPr>
            </a:pPr>
            <a:r>
              <a:t>UDP TOP 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1627632"/>
            <a:ext cx="2002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53CA91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2020824"/>
            <a:ext cx="2002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10 open/open|filtered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234440"/>
            <a:ext cx="2331720" cy="105156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371600"/>
            <a:ext cx="20025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AEBA"/>
                </a:solidFill>
                <a:latin typeface="Aptos"/>
              </a:defRPr>
            </a:pPr>
            <a:r>
              <a:t>FINAL OPEN TCP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627632"/>
            <a:ext cx="2002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53CA91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020824"/>
            <a:ext cx="2002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After hardening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542032"/>
            <a:ext cx="5486400" cy="324612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761488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KEY ENUMERATION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127248"/>
            <a:ext cx="48920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BEFF4"/>
                </a:solidFill>
                <a:latin typeface="Aptos"/>
              </a:defRPr>
            </a:pPr>
            <a:r>
              <a:t>•  Host discovery: 192.168.56.1, .100 and .101 were up.</a:t>
            </a:r>
          </a:p>
          <a:p>
            <a:pPr>
              <a:spcAft>
                <a:spcPts val="600"/>
              </a:spcAft>
              <a:defRPr sz="1200">
                <a:solidFill>
                  <a:srgbClr val="EBEFF4"/>
                </a:solidFill>
                <a:latin typeface="Aptos"/>
              </a:defRPr>
            </a:pPr>
            <a:r>
              <a:t>•  Basic scan identified 23 open TCP services.</a:t>
            </a:r>
          </a:p>
          <a:p>
            <a:pPr>
              <a:spcAft>
                <a:spcPts val="600"/>
              </a:spcAft>
              <a:defRPr sz="1200">
                <a:solidFill>
                  <a:srgbClr val="EBEFF4"/>
                </a:solidFill>
                <a:latin typeface="Aptos"/>
              </a:defRPr>
            </a:pPr>
            <a:r>
              <a:t>•  Service detection exposed legacy versions including vsftpd 2.3.4, Apache 2.2.8 and MySQL 5.0.51a.</a:t>
            </a:r>
          </a:p>
          <a:p>
            <a:pPr>
              <a:spcAft>
                <a:spcPts val="600"/>
              </a:spcAft>
              <a:defRPr sz="1200">
                <a:solidFill>
                  <a:srgbClr val="EBEFF4"/>
                </a:solidFill>
                <a:latin typeface="Aptos"/>
              </a:defRPr>
            </a:pPr>
            <a:r>
              <a:t>•  OS detection indicated Linux 2.6.x.</a:t>
            </a:r>
          </a:p>
          <a:p>
            <a:pPr>
              <a:spcAft>
                <a:spcPts val="600"/>
              </a:spcAft>
              <a:defRPr sz="1200">
                <a:solidFill>
                  <a:srgbClr val="EBEFF4"/>
                </a:solidFill>
                <a:latin typeface="Aptos"/>
              </a:defRPr>
            </a:pPr>
            <a:r>
              <a:t>•  UDP top-20 scan identified DNS/NetBIOS and several open|filtered services.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542032"/>
            <a:ext cx="5074920" cy="324612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7614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HIGH-VALUE EXPOSED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136392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B04E"/>
                </a:solidFill>
                <a:latin typeface="Aptos"/>
              </a:defRPr>
            </a:pPr>
            <a:r>
              <a:t>21/tcp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13639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vsftpd 2.3.4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529584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B04E"/>
                </a:solidFill>
                <a:latin typeface="Aptos"/>
              </a:defRPr>
            </a:pPr>
            <a:r>
              <a:t>22/tcp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529584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OpenSSH 4.7p1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92277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B04E"/>
                </a:solidFill>
                <a:latin typeface="Aptos"/>
              </a:defRPr>
            </a:pPr>
            <a:r>
              <a:t>80/tcp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22776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Apache 2.2.8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31596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B04E"/>
                </a:solidFill>
                <a:latin typeface="Aptos"/>
              </a:defRPr>
            </a:pPr>
            <a:r>
              <a:t>139/445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315968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Samba 3.X–4.X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709160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B04E"/>
                </a:solidFill>
                <a:latin typeface="Aptos"/>
              </a:defRPr>
            </a:pPr>
            <a:r>
              <a:t>3306/tcp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70916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MySQL 5.0.51a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02352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B04E"/>
                </a:solidFill>
                <a:latin typeface="Aptos"/>
              </a:defRPr>
            </a:pPr>
            <a:r>
              <a:t>5900/tcp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10235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VNC 3.3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EFF4"/>
                </a:solidFill>
                <a:latin typeface="Aptos Display"/>
              </a:defRPr>
            </a:pPr>
            <a:r>
              <a:t>Advanced Nmap Security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5AAFF"/>
                </a:solidFill>
                <a:latin typeface="Aptos"/>
              </a:defRPr>
            </a:pPr>
            <a:r>
              <a:t>TASK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EBA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440680" cy="507492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27048"/>
            <a:ext cx="4892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SCAN TECHNIQUES EXECUTED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nmap -sV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901952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Service/version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603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nmap -O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56032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OS fingerprinting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218688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nmap -sS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218688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TCP SYN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877056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nmap -sU --top-ports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877056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Limited UDP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535424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nmap --script vuln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535424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NSE vulnerability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193792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nmap -sC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5193792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Default NSE scripts / enumeration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234440"/>
            <a:ext cx="5120640" cy="507492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52704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SELECTED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892807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6262"/>
                </a:solidFill>
                <a:latin typeface="Aptos"/>
              </a:defRPr>
            </a:pPr>
            <a:r>
              <a:t>vsftpd 2.3.4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1892807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CVE-2011-2523 backdoor reported vulnerable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51176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6262"/>
                </a:solidFill>
                <a:latin typeface="Aptos"/>
              </a:defRPr>
            </a:pPr>
            <a:r>
              <a:t>SSL/TLS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551176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POODLE, Logjam, weak DH and CCS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2095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B04E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209544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Slowloris indication; TRACE enabled; weak cookie flags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86791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6262"/>
                </a:solidFill>
                <a:latin typeface="Aptos"/>
              </a:defRPr>
            </a:pPr>
            <a:r>
              <a:t>Java RMI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867912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RMI classloader / remote code execution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526279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6262"/>
                </a:solidFill>
                <a:latin typeface="Aptos"/>
              </a:defRPr>
            </a:pPr>
            <a:r>
              <a:t>UnrealIRCd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79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Backdoor/trojaned version indication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18464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B04E"/>
                </a:solidFill>
                <a:latin typeface="Aptos"/>
              </a:defRPr>
            </a:pPr>
            <a:r>
              <a:t>Web surface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518464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BEFF4"/>
                </a:solidFill>
                <a:latin typeface="Aptos"/>
              </a:defRPr>
            </a:pPr>
            <a:r>
              <a:t>DVWA, Mutillidae, phpMyAdmin and test paths discovered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EFF4"/>
                </a:solidFill>
                <a:latin typeface="Aptos Display"/>
              </a:defRPr>
            </a:pPr>
            <a:r>
              <a:t>Wireshark Traffic Capture &amp; Packet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5AAFF"/>
                </a:solidFill>
                <a:latin typeface="Aptos"/>
              </a:defRPr>
            </a:pPr>
            <a:r>
              <a:t>TASKS 9–11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EBA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623560" cy="498348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CAPTURE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BEFF4"/>
                </a:solidFill>
                <a:latin typeface="Aptos"/>
              </a:defRPr>
            </a:pPr>
            <a:r>
              <a:t>•  Capture interface: vboxnet0; traffic remained inside the authorized host-only lab.</a:t>
            </a:r>
          </a:p>
          <a:p>
            <a:pPr>
              <a:spcAft>
                <a:spcPts val="600"/>
              </a:spcAft>
              <a:defRPr sz="1200">
                <a:solidFill>
                  <a:srgbClr val="EBEFF4"/>
                </a:solidFill>
                <a:latin typeface="Aptos"/>
              </a:defRPr>
            </a:pPr>
            <a:r>
              <a:t>•  Observed protocols: ARP, ICMP, TCP, HTTP, DNS and broadcast/BROWSER traffic.</a:t>
            </a:r>
          </a:p>
          <a:p>
            <a:pPr>
              <a:spcAft>
                <a:spcPts val="600"/>
              </a:spcAft>
              <a:defRPr sz="1200">
                <a:solidFill>
                  <a:srgbClr val="EBEFF4"/>
                </a:solidFill>
                <a:latin typeface="Aptos"/>
              </a:defRPr>
            </a:pPr>
            <a:r>
              <a:t>•  Normal traffic capture contained 38 packets with 0 dropped.</a:t>
            </a:r>
          </a:p>
          <a:p>
            <a:pPr>
              <a:spcAft>
                <a:spcPts val="600"/>
              </a:spcAft>
              <a:defRPr sz="1200">
                <a:solidFill>
                  <a:srgbClr val="EBEFF4"/>
                </a:solidFill>
                <a:latin typeface="Aptos"/>
              </a:defRPr>
            </a:pPr>
            <a:r>
              <a:t>•  Nmap-only capture contained roughly 2,027 packets with 0 dropped.</a:t>
            </a:r>
          </a:p>
          <a:p>
            <a:pPr>
              <a:spcAft>
                <a:spcPts val="600"/>
              </a:spcAft>
              <a:defRPr sz="1200">
                <a:solidFill>
                  <a:srgbClr val="EBEFF4"/>
                </a:solidFill>
                <a:latin typeface="Aptos"/>
              </a:defRPr>
            </a:pPr>
            <a:r>
              <a:t>•  HTTP flow showed SYN → SYN/ACK → GET → 200 OK → connection termination.</a:t>
            </a:r>
          </a:p>
          <a:p>
            <a:pPr>
              <a:spcAft>
                <a:spcPts val="600"/>
              </a:spcAft>
              <a:defRPr sz="1200">
                <a:solidFill>
                  <a:srgbClr val="EBEFF4"/>
                </a:solidFill>
                <a:latin typeface="Aptos"/>
              </a:defRPr>
            </a:pPr>
            <a:r>
              <a:t>•  DNS filter isolated a query for metasploitable.local and a server-failure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234440"/>
            <a:ext cx="4937760" cy="498348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536192"/>
            <a:ext cx="448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USEFUL DISPLAY FILTERS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920240"/>
            <a:ext cx="4480560" cy="438912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01168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BEFF4"/>
                </a:solidFill>
                <a:latin typeface="Aptos"/>
              </a:defRPr>
            </a:pPr>
            <a:r>
              <a:t>dns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201168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AEBA"/>
                </a:solidFill>
                <a:latin typeface="Aptos"/>
              </a:defRPr>
            </a:pPr>
            <a:r>
              <a:t>DNS request/response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514600"/>
            <a:ext cx="4480560" cy="438912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0604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BEFF4"/>
                </a:solidFill>
                <a:latin typeface="Aptos"/>
              </a:defRPr>
            </a:pPr>
            <a:r>
              <a:t>tcp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260604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AEBA"/>
                </a:solidFill>
                <a:latin typeface="Aptos"/>
              </a:defRPr>
            </a:pPr>
            <a:r>
              <a:t>TCP conversation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108960"/>
            <a:ext cx="4480560" cy="438912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2004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BEFF4"/>
                </a:solidFill>
                <a:latin typeface="Aptos"/>
              </a:defRPr>
            </a:pPr>
            <a:r>
              <a:t>tcp.flags.syn ==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320040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AEBA"/>
                </a:solidFill>
                <a:latin typeface="Aptos"/>
              </a:defRPr>
            </a:pPr>
            <a:r>
              <a:t>SYN/SYN-ACK traffic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3703320"/>
            <a:ext cx="4480560" cy="438912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379476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BEFF4"/>
                </a:solidFill>
                <a:latin typeface="Aptos"/>
              </a:defRPr>
            </a:pPr>
            <a:r>
              <a:t>tcp.flags.reset ==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379476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AEBA"/>
                </a:solidFill>
                <a:latin typeface="Aptos"/>
              </a:defRPr>
            </a:pPr>
            <a:r>
              <a:t>RST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4297680"/>
            <a:ext cx="4480560" cy="438912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38912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BEFF4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438912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AEBA"/>
                </a:solidFill>
                <a:latin typeface="Aptos"/>
              </a:defRPr>
            </a:pPr>
            <a:r>
              <a:t>HTTP requests/responses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4892040"/>
            <a:ext cx="4480560" cy="438912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4983479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BEFF4"/>
                </a:solidFill>
                <a:latin typeface="Aptos"/>
              </a:defRPr>
            </a:pPr>
            <a:r>
              <a:t>arp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4983479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AEBA"/>
                </a:solidFill>
                <a:latin typeface="Aptos"/>
              </a:defRPr>
            </a:pPr>
            <a:r>
              <a:t>ARP resolution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EFF4"/>
                </a:solidFill>
                <a:latin typeface="Aptos Display"/>
              </a:defRPr>
            </a:pPr>
            <a:r>
              <a:t>Nmap + Wireshark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5AAFF"/>
                </a:solidFill>
                <a:latin typeface="Aptos"/>
              </a:defRPr>
            </a:pPr>
            <a:r>
              <a:t>TASK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EBA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972800" cy="960120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BEFF4"/>
                </a:solidFill>
                <a:latin typeface="Aptos"/>
              </a:defRPr>
            </a:pPr>
            <a:r>
              <a:t>Nmap SYN probes were visible at packet level, allowing scan behavior to be correlated with TCP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560320"/>
            <a:ext cx="2331720" cy="132588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76148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5AA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2491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BEFF4"/>
                </a:solidFill>
                <a:latin typeface="Aptos"/>
              </a:defRPr>
            </a:pPr>
            <a:r>
              <a:t>SYN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90672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AEBA"/>
                </a:solidFill>
                <a:latin typeface="Aptos"/>
              </a:defRPr>
            </a:pPr>
            <a:r>
              <a:t>Kali →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560320"/>
            <a:ext cx="2331720" cy="132588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76148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3CA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2491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BEFF4"/>
                </a:solidFill>
                <a:latin typeface="Aptos"/>
              </a:defRPr>
            </a:pPr>
            <a:r>
              <a:t>SYN/ACK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090672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AEBA"/>
                </a:solidFill>
                <a:latin typeface="Aptos"/>
              </a:defRPr>
            </a:pPr>
            <a:r>
              <a:t>target :80 → Kali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560320"/>
            <a:ext cx="2331720" cy="132588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76148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5B04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2491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BEFF4"/>
                </a:solidFill>
                <a:latin typeface="Aptos"/>
              </a:defRPr>
            </a:pPr>
            <a:r>
              <a:t>RST / 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090672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AEBA"/>
                </a:solidFill>
                <a:latin typeface="Aptos"/>
              </a:defRPr>
            </a:pPr>
            <a:r>
              <a:t>observed in Nmap capture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560320"/>
            <a:ext cx="2331720" cy="132588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276148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5AA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72491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BEFF4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90672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AEBA"/>
                </a:solidFill>
                <a:latin typeface="Aptos"/>
              </a:defRPr>
            </a:pPr>
            <a:r>
              <a:t>GET + 200 OK in normal capture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51960"/>
            <a:ext cx="10972800" cy="178308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0799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Investigation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BEFF4"/>
                </a:solidFill>
                <a:latin typeface="Aptos"/>
              </a:defRPr>
            </a:pPr>
            <a:r>
              <a:t>•  Port 80 produced a complete TCP handshake followed by HTTP application traffic.</a:t>
            </a:r>
          </a:p>
          <a:p>
            <a:pPr>
              <a:spcAft>
                <a:spcPts val="600"/>
              </a:spcAft>
              <a:defRPr sz="1100">
                <a:solidFill>
                  <a:srgbClr val="EBEFF4"/>
                </a:solidFill>
                <a:latin typeface="Aptos"/>
              </a:defRPr>
            </a:pPr>
            <a:r>
              <a:t>•  The dedicated Nmap PCAP contained SYN and reset behavior; the normal traffic PCAP did not show RST packets, so no RST finding was invented for that capture.</a:t>
            </a:r>
          </a:p>
          <a:p>
            <a:pPr>
              <a:spcAft>
                <a:spcPts val="600"/>
              </a:spcAft>
              <a:defRPr sz="1100">
                <a:solidFill>
                  <a:srgbClr val="EBEFF4"/>
                </a:solidFill>
                <a:latin typeface="Aptos"/>
              </a:defRPr>
            </a:pPr>
            <a:r>
              <a:t>•  Packet-level evidence confirmed that scan results represent observable network activity, not just Nmap output.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EFF4"/>
                </a:solidFill>
                <a:latin typeface="Aptos Display"/>
              </a:defRPr>
            </a:pPr>
            <a:r>
              <a:t>Vulnerability Assessment &amp; Risk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5AAFF"/>
                </a:solidFill>
                <a:latin typeface="Aptos"/>
              </a:defRPr>
            </a:pPr>
            <a:r>
              <a:t>TASK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EBA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972800" cy="91440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356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6262"/>
                </a:solidFill>
                <a:latin typeface="Aptos"/>
              </a:defRPr>
            </a:pPr>
            <a:r>
              <a:t>CRITICAL /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89888"/>
            <a:ext cx="8138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vsftpd 2.3.4 backdoor • RMI classloader RCE • OpenSSL CCS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50008"/>
            <a:ext cx="10972800" cy="91440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5117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6262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505456"/>
            <a:ext cx="8138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POODLE • Logjam • weak DH • UnrealIRCd backdoor indication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65576"/>
            <a:ext cx="10972800" cy="91440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66674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B04E"/>
                </a:solidFill>
                <a:latin typeface="Aptos"/>
              </a:defRPr>
            </a:pPr>
            <a:r>
              <a:t>MEDIUM /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621024"/>
            <a:ext cx="8138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Slowloris indication • TRACE • weak session cookie flags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81144"/>
            <a:ext cx="10972800" cy="91440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78231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B04E"/>
                </a:solidFill>
                <a:latin typeface="Aptos"/>
              </a:defRPr>
            </a:pPr>
            <a:r>
              <a:t>EXPOSURE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736592"/>
            <a:ext cx="8138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BEFF4"/>
                </a:solidFill>
                <a:latin typeface="Aptos"/>
              </a:defRPr>
            </a:pPr>
            <a:r>
              <a:t>Legacy FTP/SMB/VNC/DB/Tomcat services increase attack surface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715000"/>
            <a:ext cx="10972800" cy="411480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33872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AEBA"/>
                </a:solidFill>
                <a:latin typeface="Aptos"/>
              </a:defRPr>
            </a:pPr>
            <a:r>
              <a:t>Risk logic: prioritize remotely reachable services with known exploitable weaknesses, legacy cryptography, or unnecessary exposure.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EFF4"/>
                </a:solidFill>
                <a:latin typeface="Aptos Display"/>
              </a:defRPr>
            </a:pPr>
            <a:r>
              <a:t>Security Hardening Performed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5AAFF"/>
                </a:solidFill>
                <a:latin typeface="Aptos"/>
              </a:defRPr>
            </a:pPr>
            <a:r>
              <a:t>TASK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EBA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074920" cy="452628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FTP 21/tcp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585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vsftpd 2.3.4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4825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EB6262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008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Telnet 23/tcp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telnetd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9981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EB6262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416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R-services 512/513/514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6168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rexec / login / 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15137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EB6262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234440"/>
            <a:ext cx="5074920" cy="452628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48132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3CA91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9385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FTP 21/tcp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585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disabled via xinetd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04825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53CA91"/>
                </a:solidFill>
                <a:latin typeface="Aptos"/>
              </a:defRPr>
            </a:pPr>
            <a:r>
              <a:t>CLOSED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9008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Telnet 23/tcp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31012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commented in /etc/inetd.conf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09981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53CA91"/>
                </a:solidFill>
                <a:latin typeface="Aptos"/>
              </a:defRPr>
            </a:pPr>
            <a:r>
              <a:t>CLOSED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416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EFF4"/>
                </a:solidFill>
                <a:latin typeface="Aptos"/>
              </a:defRPr>
            </a:pPr>
            <a:r>
              <a:t>R-services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36168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shell/login/exec entries disabled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15137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53CA91"/>
                </a:solidFill>
                <a:latin typeface="Aptos"/>
              </a:defRPr>
            </a:pPr>
            <a:r>
              <a:t>CLOSED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5925312"/>
            <a:ext cx="8138160" cy="384048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6025896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4AEBA"/>
                </a:solidFill>
                <a:latin typeface="Aptos"/>
              </a:defRPr>
            </a:pPr>
            <a:r>
              <a:t>Configuration backups were created before editing; changes were verified with repeat Nmap scans.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EFF4"/>
                </a:solidFill>
                <a:latin typeface="Aptos Display"/>
              </a:defRPr>
            </a:pPr>
            <a:r>
              <a:t>Before vs After — Attack Surface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5AAFF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EBA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971800" cy="105156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63039"/>
            <a:ext cx="26426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AEBA"/>
                </a:solidFill>
                <a:latin typeface="Aptos"/>
              </a:defRPr>
            </a:pPr>
            <a:r>
              <a:t>OPEN TCP PORTS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719072"/>
            <a:ext cx="26426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B6262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12264"/>
            <a:ext cx="2642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Initial Nmap enumeration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325880"/>
            <a:ext cx="2971800" cy="105156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463039"/>
            <a:ext cx="26426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AEBA"/>
                </a:solidFill>
                <a:latin typeface="Aptos"/>
              </a:defRPr>
            </a:pPr>
            <a:r>
              <a:t>OPEN TCP PORTS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719072"/>
            <a:ext cx="26426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53CA91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112264"/>
            <a:ext cx="2642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Final -sS -sV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325880"/>
            <a:ext cx="2743200" cy="105156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1463039"/>
            <a:ext cx="2414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AEBA"/>
                </a:solidFill>
                <a:latin typeface="Aptos"/>
              </a:defRPr>
            </a:pPr>
            <a:r>
              <a:t>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1719072"/>
            <a:ext cx="2414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53CA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2112264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~26% fewer open 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743200"/>
            <a:ext cx="10424160" cy="260604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99923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4AEBA"/>
                </a:solidFill>
                <a:latin typeface="Aptos"/>
              </a:defRPr>
            </a:pPr>
            <a:r>
              <a:t>INITIAL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2999232"/>
            <a:ext cx="7955279" cy="411480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31720" y="2999232"/>
            <a:ext cx="7955279" cy="411480"/>
          </a:xfrm>
          <a:prstGeom prst="roundRect">
            <a:avLst/>
          </a:prstGeom>
          <a:solidFill>
            <a:srgbClr val="EB6262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703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4AEBA"/>
                </a:solidFill>
                <a:latin typeface="Aptos"/>
              </a:defRPr>
            </a:pPr>
            <a:r>
              <a:t>FINAL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3703320"/>
            <a:ext cx="7955279" cy="411480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31720" y="3703320"/>
            <a:ext cx="5879989" cy="411480"/>
          </a:xfrm>
          <a:prstGeom prst="roundRect">
            <a:avLst/>
          </a:prstGeom>
          <a:solidFill>
            <a:srgbClr val="53CA91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416052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BEFF4"/>
                </a:solidFill>
                <a:latin typeface="Aptos"/>
              </a:defRPr>
            </a:pPr>
            <a:r>
              <a:t>Closed during hardening: 21/tcp FTP • 23/tcp Telnet • 512/513/514 tcp R-services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800600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4AEBA"/>
                </a:solidFill>
                <a:latin typeface="Aptos"/>
              </a:defRPr>
            </a:pPr>
            <a:r>
              <a:t>Final scan still found legacy services such as ProFTPD 2121, SMB, databases, VNC, Tomcat and RMI.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EFF4"/>
                </a:solidFill>
                <a:latin typeface="Aptos Display"/>
              </a:defRPr>
            </a:pPr>
            <a:r>
              <a:t>Recommendations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5AAFF"/>
                </a:solidFill>
                <a:latin typeface="Aptos"/>
              </a:defRPr>
            </a:pPr>
            <a: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EBA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6537960" cy="5029200"/>
          </a:xfrm>
          <a:prstGeom prst="roundRect">
            <a:avLst/>
          </a:prstGeom>
          <a:solidFill>
            <a:srgbClr val="1D2229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27048"/>
            <a:ext cx="5852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5 PROFESSIONAL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5897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EBEFF4"/>
                </a:solidFill>
                <a:latin typeface="Aptos"/>
              </a:defRPr>
            </a:pPr>
            <a:r>
              <a:t>•  Remove or isolate unnecessary legacy services; keep only business-required ports reachable.</a:t>
            </a:r>
          </a:p>
          <a:p>
            <a:pPr>
              <a:spcAft>
                <a:spcPts val="1000"/>
              </a:spcAft>
              <a:defRPr sz="1300">
                <a:solidFill>
                  <a:srgbClr val="EBEFF4"/>
                </a:solidFill>
                <a:latin typeface="Aptos"/>
              </a:defRPr>
            </a:pPr>
            <a:r>
              <a:t>•  Replace vulnerable legacy software and cryptographic configurations with supported versions.</a:t>
            </a:r>
          </a:p>
          <a:p>
            <a:pPr>
              <a:spcAft>
                <a:spcPts val="1000"/>
              </a:spcAft>
              <a:defRPr sz="1300">
                <a:solidFill>
                  <a:srgbClr val="EBEFF4"/>
                </a:solidFill>
                <a:latin typeface="Aptos"/>
              </a:defRPr>
            </a:pPr>
            <a:r>
              <a:t>•  Restrict administrative interfaces (SSH, databases, RMI, VNC) to trusted management hosts.</a:t>
            </a:r>
          </a:p>
          <a:p>
            <a:pPr>
              <a:spcAft>
                <a:spcPts val="1000"/>
              </a:spcAft>
              <a:defRPr sz="1300">
                <a:solidFill>
                  <a:srgbClr val="EBEFF4"/>
                </a:solidFill>
                <a:latin typeface="Aptos"/>
              </a:defRPr>
            </a:pPr>
            <a:r>
              <a:t>•  Continue packet monitoring and retain PCAP/evidence for incident investigation and validation.</a:t>
            </a:r>
          </a:p>
          <a:p>
            <a:pPr>
              <a:spcAft>
                <a:spcPts val="1000"/>
              </a:spcAft>
              <a:defRPr sz="1300">
                <a:solidFill>
                  <a:srgbClr val="EBEFF4"/>
                </a:solidFill>
                <a:latin typeface="Aptos"/>
              </a:defRPr>
            </a:pPr>
            <a:r>
              <a:t>•  Repeat vulnerability scans after every hardening change and document measurable before/after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234440"/>
            <a:ext cx="4069080" cy="5029200"/>
          </a:xfrm>
          <a:prstGeom prst="roundRect">
            <a:avLst/>
          </a:prstGeom>
          <a:solidFill>
            <a:srgbClr val="252B33"/>
          </a:solidFill>
          <a:ln w="8890">
            <a:solidFill>
              <a:srgbClr val="39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536192"/>
            <a:ext cx="3520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3CA91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38528"/>
            <a:ext cx="3383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BEFF4"/>
                </a:solidFill>
                <a:latin typeface="Aptos"/>
              </a:defRPr>
            </a:pPr>
            <a:r>
              <a:t>The lab moved from broad exposure to a measurably smaller attack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310128"/>
            <a:ext cx="3383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AEBA"/>
                </a:solidFill>
                <a:latin typeface="Aptos"/>
              </a:defRPr>
            </a:pPr>
            <a:r>
              <a:t>Evidence from Nmap and Wireshark was used to identify risk, implement hardening, and verify the result rather than relying on assumptions.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513892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5AAFF"/>
                </a:solidFill>
                <a:latin typeface="Aptos"/>
              </a:defRPr>
            </a:pPr>
            <a:r>
              <a:t>Assessment completed in an authorized isolated lab.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41908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4AEBA"/>
                </a:solidFill>
                <a:latin typeface="Aptos"/>
              </a:defRPr>
            </a:pPr>
            <a:r>
              <a:t>Authorized lab environment • 192.168.56.0/24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